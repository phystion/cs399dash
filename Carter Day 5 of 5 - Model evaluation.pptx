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341" r:id="rId3"/>
    <p:sldId id="351" r:id="rId4"/>
    <p:sldId id="348" r:id="rId5"/>
    <p:sldId id="349" r:id="rId6"/>
    <p:sldId id="350" r:id="rId7"/>
    <p:sldId id="352" r:id="rId8"/>
    <p:sldId id="346" r:id="rId9"/>
    <p:sldId id="342" r:id="rId10"/>
    <p:sldId id="343" r:id="rId11"/>
    <p:sldId id="347" r:id="rId12"/>
    <p:sldId id="344" r:id="rId13"/>
    <p:sldId id="35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BF5F"/>
    <a:srgbClr val="CF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02A86-1A4F-034E-8FC5-CF51CB0B58E0}" v="13" dt="2026-03-02T15:23:32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2"/>
    <p:restoredTop sz="92360"/>
  </p:normalViewPr>
  <p:slideViewPr>
    <p:cSldViewPr snapToGrid="0">
      <p:cViewPr varScale="1">
        <p:scale>
          <a:sx n="144" d="100"/>
          <a:sy n="144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5AC5-7712-3741-9A23-1AD4A64A4B8A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1B041-8EBF-9B4C-ADB5-6710E7DBE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5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1B041-8EBF-9B4C-ADB5-6710E7DBEF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51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CF7F-1724-A6DB-65B7-204F09722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Evaluating AI model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33AC0-3FF4-3593-2CA6-83795EB05B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March 2, 2026</a:t>
            </a:r>
          </a:p>
          <a:p>
            <a:r>
              <a:rPr lang="en-US" dirty="0"/>
              <a:t>Nathan Carter</a:t>
            </a:r>
          </a:p>
          <a:p>
            <a:r>
              <a:rPr lang="en-US" dirty="0"/>
              <a:t>CS 399: Innovating with AI</a:t>
            </a:r>
          </a:p>
        </p:txBody>
      </p:sp>
    </p:spTree>
    <p:extLst>
      <p:ext uri="{BB962C8B-B14F-4D97-AF65-F5344CB8AC3E}">
        <p14:creationId xmlns:p14="http://schemas.microsoft.com/office/powerpoint/2010/main" val="2226474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534AB-E5E8-62D4-BEBD-47464B65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368B-BFAA-F5AF-A2F4-9317A4A1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ended last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E57E90-BAD7-CC0F-9DB7-065B2A14B4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737720"/>
              </p:ext>
            </p:extLst>
          </p:nvPr>
        </p:nvGraphicFramePr>
        <p:xfrm>
          <a:off x="1141413" y="2667000"/>
          <a:ext cx="9906000" cy="321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449">
                  <a:extLst>
                    <a:ext uri="{9D8B030D-6E8A-4147-A177-3AD203B41FA5}">
                      <a16:colId xmlns:a16="http://schemas.microsoft.com/office/drawing/2014/main" val="3309016602"/>
                    </a:ext>
                  </a:extLst>
                </a:gridCol>
                <a:gridCol w="3649717">
                  <a:extLst>
                    <a:ext uri="{9D8B030D-6E8A-4147-A177-3AD203B41FA5}">
                      <a16:colId xmlns:a16="http://schemas.microsoft.com/office/drawing/2014/main" val="2729485609"/>
                    </a:ext>
                  </a:extLst>
                </a:gridCol>
                <a:gridCol w="4362834">
                  <a:extLst>
                    <a:ext uri="{9D8B030D-6E8A-4147-A177-3AD203B41FA5}">
                      <a16:colId xmlns:a16="http://schemas.microsoft.com/office/drawing/2014/main" val="2279802747"/>
                    </a:ext>
                  </a:extLst>
                </a:gridCol>
              </a:tblGrid>
              <a:tr h="642708">
                <a:tc>
                  <a:txBody>
                    <a:bodyPr/>
                    <a:lstStyle/>
                    <a:p>
                      <a:r>
                        <a:rPr lang="en-US" dirty="0"/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to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306096"/>
                  </a:ext>
                </a:extLst>
              </a:tr>
              <a:tr h="6427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F7133"/>
                          </a:solidFill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it do what I need?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Covered last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187016"/>
                  </a:ext>
                </a:extLst>
              </a:tr>
              <a:tr h="6427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F7133"/>
                          </a:solidFill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it run on my hardware?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 today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507689"/>
                  </a:ext>
                </a:extLst>
              </a:tr>
              <a:tr h="6427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F7133"/>
                          </a:solidFill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it run fast enough?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Try it and see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99827"/>
                  </a:ext>
                </a:extLst>
              </a:tr>
              <a:tr h="6427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F7133"/>
                          </a:solidFill>
                        </a:rPr>
                        <a:t>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it give good output?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Next class!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411023"/>
                  </a:ext>
                </a:extLst>
              </a:tr>
            </a:tbl>
          </a:graphicData>
        </a:graphic>
      </p:graphicFrame>
      <p:sp>
        <p:nvSpPr>
          <p:cNvPr id="3" name="Left Arrow 2">
            <a:extLst>
              <a:ext uri="{FF2B5EF4-FFF2-40B4-BE49-F238E27FC236}">
                <a16:creationId xmlns:a16="http://schemas.microsoft.com/office/drawing/2014/main" id="{B4E36694-2952-1F33-7910-F363AD578A8D}"/>
              </a:ext>
            </a:extLst>
          </p:cNvPr>
          <p:cNvSpPr/>
          <p:nvPr/>
        </p:nvSpPr>
        <p:spPr>
          <a:xfrm>
            <a:off x="8166969" y="4997884"/>
            <a:ext cx="4025031" cy="1139869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 now here we are.</a:t>
            </a:r>
          </a:p>
        </p:txBody>
      </p:sp>
    </p:spTree>
    <p:extLst>
      <p:ext uri="{BB962C8B-B14F-4D97-AF65-F5344CB8AC3E}">
        <p14:creationId xmlns:p14="http://schemas.microsoft.com/office/powerpoint/2010/main" val="98748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3856-755C-3995-D822-86EA8565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1772744"/>
            <a:ext cx="8686800" cy="1468800"/>
          </a:xfrm>
        </p:spPr>
        <p:txBody>
          <a:bodyPr/>
          <a:lstStyle/>
          <a:p>
            <a:pPr algn="l"/>
            <a:r>
              <a:rPr lang="en-US" dirty="0"/>
              <a:t>Three example</a:t>
            </a:r>
            <a:br>
              <a:rPr lang="en-US" dirty="0"/>
            </a:br>
            <a:r>
              <a:rPr lang="en-US" dirty="0"/>
              <a:t>evaluation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AF3C9-A43F-8B6F-7E1F-9782D939D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4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7AC7-C6AC-2E3D-6651-8CA212EE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evaluative tools #1: Binary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5248-3BDF-05AC-A026-C32A1F08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934090" cy="3907404"/>
          </a:xfrm>
        </p:spPr>
        <p:txBody>
          <a:bodyPr>
            <a:normAutofit/>
          </a:bodyPr>
          <a:lstStyle/>
          <a:p>
            <a:r>
              <a:rPr lang="en-US" b="1" dirty="0"/>
              <a:t>Binary classification: You’re trying to predict a yes/no response</a:t>
            </a:r>
          </a:p>
          <a:p>
            <a:r>
              <a:rPr lang="en-US" dirty="0"/>
              <a:t>TP = True positives = Reality and prediction are both positive</a:t>
            </a:r>
          </a:p>
          <a:p>
            <a:r>
              <a:rPr lang="en-US" dirty="0"/>
              <a:t>FP = False positives = Predication was positive, reality is not</a:t>
            </a:r>
          </a:p>
          <a:p>
            <a:r>
              <a:rPr lang="en-US" dirty="0"/>
              <a:t>TN = True negatives = Reality and prediction are both negative</a:t>
            </a:r>
          </a:p>
          <a:p>
            <a:r>
              <a:rPr lang="en-US" dirty="0"/>
              <a:t>FN = False negatives = Predication was negative, reality is not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BE7790-F394-E594-386F-FA7DD7A9A3A1}"/>
                  </a:ext>
                </a:extLst>
              </p:cNvPr>
              <p:cNvSpPr txBox="1"/>
              <p:nvPr/>
            </p:nvSpPr>
            <p:spPr>
              <a:xfrm>
                <a:off x="7528264" y="2666999"/>
                <a:ext cx="328949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E7BF5F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BE7790-F394-E594-386F-FA7DD7A9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64" y="2666999"/>
                <a:ext cx="3289490" cy="523157"/>
              </a:xfrm>
              <a:prstGeom prst="rect">
                <a:avLst/>
              </a:prstGeom>
              <a:blipFill>
                <a:blip r:embed="rId2"/>
                <a:stretch>
                  <a:fillRect l="-1533" r="-38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5CCA66-E71E-11D8-CDFF-30931C09A455}"/>
                  </a:ext>
                </a:extLst>
              </p:cNvPr>
              <p:cNvSpPr txBox="1"/>
              <p:nvPr/>
            </p:nvSpPr>
            <p:spPr>
              <a:xfrm>
                <a:off x="7528264" y="4081822"/>
                <a:ext cx="1832296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E7BF5F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5CCA66-E71E-11D8-CDFF-30931C09A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64" y="4081822"/>
                <a:ext cx="1832296" cy="523157"/>
              </a:xfrm>
              <a:prstGeom prst="rect">
                <a:avLst/>
              </a:prstGeom>
              <a:blipFill>
                <a:blip r:embed="rId3"/>
                <a:stretch>
                  <a:fillRect l="-2055" t="-2381" r="-1370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5D2C4B-3C5A-AE86-F75A-0D2FA384F377}"/>
                  </a:ext>
                </a:extLst>
              </p:cNvPr>
              <p:cNvSpPr txBox="1"/>
              <p:nvPr/>
            </p:nvSpPr>
            <p:spPr>
              <a:xfrm>
                <a:off x="7528264" y="5496645"/>
                <a:ext cx="2130455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E7BF5F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5D2C4B-3C5A-AE86-F75A-0D2FA384F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64" y="5496645"/>
                <a:ext cx="2130455" cy="523157"/>
              </a:xfrm>
              <a:prstGeom prst="rect">
                <a:avLst/>
              </a:prstGeom>
              <a:blipFill>
                <a:blip r:embed="rId4"/>
                <a:stretch>
                  <a:fillRect l="-1775" r="-177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4B35170-ACDE-92E3-1B16-A1D29CF0CD87}"/>
              </a:ext>
            </a:extLst>
          </p:cNvPr>
          <p:cNvSpPr txBox="1"/>
          <p:nvPr/>
        </p:nvSpPr>
        <p:spPr>
          <a:xfrm>
            <a:off x="8131945" y="3342555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F7133"/>
                </a:solidFill>
              </a:rPr>
              <a:t>How often is it correct?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45886-3D13-CDCA-7082-8928D11194E3}"/>
              </a:ext>
            </a:extLst>
          </p:cNvPr>
          <p:cNvSpPr txBox="1"/>
          <p:nvPr/>
        </p:nvSpPr>
        <p:spPr>
          <a:xfrm>
            <a:off x="8131945" y="62050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F7133"/>
                </a:solidFill>
              </a:rPr>
              <a:t>If it says Yes, is it right?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E1361-639D-F2F8-1A9C-0179A178513A}"/>
              </a:ext>
            </a:extLst>
          </p:cNvPr>
          <p:cNvSpPr txBox="1"/>
          <p:nvPr/>
        </p:nvSpPr>
        <p:spPr>
          <a:xfrm>
            <a:off x="8131945" y="4790248"/>
            <a:ext cx="3536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F7133"/>
                </a:solidFill>
              </a:rPr>
              <a:t>If the answer is Yes, can it tell?</a:t>
            </a:r>
          </a:p>
        </p:txBody>
      </p:sp>
    </p:spTree>
    <p:extLst>
      <p:ext uri="{BB962C8B-B14F-4D97-AF65-F5344CB8AC3E}">
        <p14:creationId xmlns:p14="http://schemas.microsoft.com/office/powerpoint/2010/main" val="244099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9932-D81E-28A1-22A7-B50153B3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C5D1-05E3-4292-D1B3-95E3EF7B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evaluative tools #2: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3120B-6CDE-8BEF-F4EA-8780AA5B3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934090" cy="3907404"/>
          </a:xfrm>
        </p:spPr>
        <p:txBody>
          <a:bodyPr>
            <a:normAutofit/>
          </a:bodyPr>
          <a:lstStyle/>
          <a:p>
            <a:r>
              <a:rPr lang="en-US" b="1" dirty="0"/>
              <a:t>Search: You’re responding to a query, returning a list of “documents”</a:t>
            </a:r>
          </a:p>
          <a:p>
            <a:r>
              <a:rPr lang="en-US" dirty="0"/>
              <a:t>N = How many results do we count as “top” results?</a:t>
            </a:r>
          </a:p>
          <a:p>
            <a:r>
              <a:rPr lang="en-US" dirty="0"/>
              <a:t>R = the number of relevant search results for some selected query</a:t>
            </a:r>
          </a:p>
          <a:p>
            <a:r>
              <a:rPr lang="en-US" dirty="0"/>
              <a:t>RN = the number of relevant search results for that query that show up in the top n</a:t>
            </a:r>
          </a:p>
          <a:p>
            <a:r>
              <a:rPr lang="en-US" dirty="0"/>
              <a:t>Hit = true if RN &gt; 0 (Did we find anything relevant?)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14A570-6909-5C93-58F1-4DAE09C9ECC8}"/>
                  </a:ext>
                </a:extLst>
              </p:cNvPr>
              <p:cNvSpPr txBox="1"/>
              <p:nvPr/>
            </p:nvSpPr>
            <p:spPr>
              <a:xfrm>
                <a:off x="7554897" y="4613139"/>
                <a:ext cx="1744132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𝑅𝑁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E7BF5F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14A570-6909-5C93-58F1-4DAE09C9E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4613139"/>
                <a:ext cx="1744132" cy="516745"/>
              </a:xfrm>
              <a:prstGeom prst="rect">
                <a:avLst/>
              </a:prstGeom>
              <a:blipFill>
                <a:blip r:embed="rId2"/>
                <a:stretch>
                  <a:fillRect l="-2174" t="-2381" r="-217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8E228A-EEF2-3687-151A-D3B3EA574BE3}"/>
                  </a:ext>
                </a:extLst>
              </p:cNvPr>
              <p:cNvSpPr txBox="1"/>
              <p:nvPr/>
            </p:nvSpPr>
            <p:spPr>
              <a:xfrm>
                <a:off x="7554897" y="2903022"/>
                <a:ext cx="2235420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Hit</m:t>
                      </m:r>
                      <m: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E7BF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hits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7BF5F"/>
                              </a:solidFill>
                              <a:latin typeface="Cambria Math" panose="02040503050406030204" pitchFamily="18" charset="0"/>
                            </a:rPr>
                            <m:t>tests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E7BF5F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8E228A-EEF2-3687-151A-D3B3EA574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7" y="2903022"/>
                <a:ext cx="2235420" cy="525978"/>
              </a:xfrm>
              <a:prstGeom prst="rect">
                <a:avLst/>
              </a:prstGeom>
              <a:blipFill>
                <a:blip r:embed="rId3"/>
                <a:stretch>
                  <a:fillRect l="-1695" t="-6977" r="-1695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0F68FE3-AB29-F38A-2850-EA039189A203}"/>
              </a:ext>
            </a:extLst>
          </p:cNvPr>
          <p:cNvSpPr txBox="1"/>
          <p:nvPr/>
        </p:nvSpPr>
        <p:spPr>
          <a:xfrm>
            <a:off x="8158578" y="5288695"/>
            <a:ext cx="3106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F7133"/>
                </a:solidFill>
              </a:rPr>
              <a:t>What portion of top results</a:t>
            </a:r>
          </a:p>
          <a:p>
            <a:r>
              <a:rPr lang="en-US" dirty="0">
                <a:solidFill>
                  <a:srgbClr val="CF7133"/>
                </a:solidFill>
              </a:rPr>
              <a:t>are good?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93016A-F7F6-0401-6F6D-87468A97E740}"/>
              </a:ext>
            </a:extLst>
          </p:cNvPr>
          <p:cNvSpPr txBox="1"/>
          <p:nvPr/>
        </p:nvSpPr>
        <p:spPr>
          <a:xfrm>
            <a:off x="8158578" y="3611448"/>
            <a:ext cx="3118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F7133"/>
                </a:solidFill>
              </a:rPr>
              <a:t>How often is any top result</a:t>
            </a:r>
            <a:br>
              <a:rPr lang="en-US" dirty="0">
                <a:solidFill>
                  <a:srgbClr val="CF7133"/>
                </a:solidFill>
              </a:rPr>
            </a:br>
            <a:r>
              <a:rPr lang="en-US" dirty="0">
                <a:solidFill>
                  <a:srgbClr val="CF7133"/>
                </a:solidFill>
              </a:rPr>
              <a:t>good?</a:t>
            </a:r>
          </a:p>
        </p:txBody>
      </p:sp>
    </p:spTree>
    <p:extLst>
      <p:ext uri="{BB962C8B-B14F-4D97-AF65-F5344CB8AC3E}">
        <p14:creationId xmlns:p14="http://schemas.microsoft.com/office/powerpoint/2010/main" val="221522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399E-3BE5-5B48-9954-869D499A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76E2-F6D2-82C1-883F-01B692DAE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evaluative tools #3: Text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C065-4DC2-D3C9-01FB-439FFF08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666999"/>
            <a:ext cx="10204249" cy="3307673"/>
          </a:xfrm>
        </p:spPr>
        <p:txBody>
          <a:bodyPr>
            <a:normAutofit/>
          </a:bodyPr>
          <a:lstStyle/>
          <a:p>
            <a:r>
              <a:rPr lang="en-US" b="1" dirty="0"/>
              <a:t>Construct some “golden test cases,” in which you know the correct response.</a:t>
            </a:r>
          </a:p>
          <a:p>
            <a:r>
              <a:rPr lang="en-US" dirty="0"/>
              <a:t>Also construct a rubric for grading whether you would call a model’s response correct, partially correct, incorrect, etc.</a:t>
            </a:r>
          </a:p>
          <a:p>
            <a:r>
              <a:rPr lang="en-US" dirty="0"/>
              <a:t>Report:</a:t>
            </a:r>
          </a:p>
          <a:p>
            <a:pPr lvl="1"/>
            <a:r>
              <a:rPr lang="en-US" dirty="0"/>
              <a:t>a table of test cases: input </a:t>
            </a:r>
            <a:r>
              <a:rPr lang="en-US" dirty="0">
                <a:sym typeface="Wingdings" pitchFamily="2" charset="2"/>
              </a:rPr>
              <a:t> expected result  actual result</a:t>
            </a:r>
          </a:p>
          <a:p>
            <a:pPr lvl="1"/>
            <a:r>
              <a:rPr lang="en-US" dirty="0">
                <a:sym typeface="Wingdings" pitchFamily="2" charset="2"/>
              </a:rPr>
              <a:t>Counts of pass/fail/intermediate</a:t>
            </a:r>
          </a:p>
          <a:p>
            <a:pPr lvl="1"/>
            <a:r>
              <a:rPr lang="en-US" dirty="0">
                <a:sym typeface="Wingdings" pitchFamily="2" charset="2"/>
              </a:rPr>
              <a:t>Analysis of any surprising successes or failures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2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C41A-EA2B-6BC0-E6BD-CB8B5531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496C-E958-F0F4-7ED1-97BA64F0C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1772744"/>
            <a:ext cx="8686800" cy="1468800"/>
          </a:xfrm>
        </p:spPr>
        <p:txBody>
          <a:bodyPr/>
          <a:lstStyle/>
          <a:p>
            <a:pPr algn="l"/>
            <a:r>
              <a:rPr lang="en-US" dirty="0"/>
              <a:t>Brainstorming</a:t>
            </a:r>
            <a:br>
              <a:rPr lang="en-US" dirty="0"/>
            </a:br>
            <a:r>
              <a:rPr lang="en-US" dirty="0"/>
              <a:t>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B17D4-7FE8-406D-1B9D-8A5289CC4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24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C53D-B397-8EE1-5F85-50095517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Divergent/convergent thinking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09382B-DD92-C4F9-1DBC-A073C61D1B50}"/>
              </a:ext>
            </a:extLst>
          </p:cNvPr>
          <p:cNvGrpSpPr/>
          <p:nvPr/>
        </p:nvGrpSpPr>
        <p:grpSpPr>
          <a:xfrm>
            <a:off x="0" y="2716638"/>
            <a:ext cx="4928716" cy="2956670"/>
            <a:chOff x="1081178" y="2687141"/>
            <a:chExt cx="4928716" cy="29566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F6BCE8-4315-F0FF-071F-1CD7FB067B3C}"/>
                </a:ext>
              </a:extLst>
            </p:cNvPr>
            <p:cNvSpPr/>
            <p:nvPr/>
          </p:nvSpPr>
          <p:spPr>
            <a:xfrm rot="2693928">
              <a:off x="2098477" y="2687141"/>
              <a:ext cx="2934700" cy="295667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6643B5-720C-B477-AB6E-5D02BC6B2F9E}"/>
                </a:ext>
              </a:extLst>
            </p:cNvPr>
            <p:cNvSpPr txBox="1"/>
            <p:nvPr/>
          </p:nvSpPr>
          <p:spPr>
            <a:xfrm>
              <a:off x="1766169" y="3842309"/>
              <a:ext cx="14334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Brainstorm</a:t>
              </a:r>
              <a:br>
                <a:rPr lang="en-US" dirty="0">
                  <a:solidFill>
                    <a:sysClr val="windowText" lastClr="000000"/>
                  </a:solidFill>
                </a:rPr>
              </a:br>
              <a:r>
                <a:rPr lang="en-US" dirty="0">
                  <a:solidFill>
                    <a:sysClr val="windowText" lastClr="000000"/>
                  </a:solidFill>
                </a:rPr>
                <a:t>(divergent)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322C16-9E9B-4ADB-CB68-D498DB6553EF}"/>
                </a:ext>
              </a:extLst>
            </p:cNvPr>
            <p:cNvSpPr txBox="1"/>
            <p:nvPr/>
          </p:nvSpPr>
          <p:spPr>
            <a:xfrm>
              <a:off x="3418343" y="3842308"/>
              <a:ext cx="1928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Add constraints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(convergent)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ED2684B5-F85A-315B-A368-F06D7B9229DB}"/>
                </a:ext>
              </a:extLst>
            </p:cNvPr>
            <p:cNvSpPr/>
            <p:nvPr/>
          </p:nvSpPr>
          <p:spPr>
            <a:xfrm rot="2692657" flipV="1">
              <a:off x="3137935" y="2870872"/>
              <a:ext cx="28436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8DE1A1CE-E661-FF87-EE57-FF04969A723F}"/>
                </a:ext>
              </a:extLst>
            </p:cNvPr>
            <p:cNvSpPr/>
            <p:nvPr/>
          </p:nvSpPr>
          <p:spPr>
            <a:xfrm rot="18907343">
              <a:off x="3036391" y="4900337"/>
              <a:ext cx="2973503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F3EE9D72-E15A-2484-0D0C-3E4ADA4741CC}"/>
                </a:ext>
              </a:extLst>
            </p:cNvPr>
            <p:cNvSpPr/>
            <p:nvPr/>
          </p:nvSpPr>
          <p:spPr>
            <a:xfrm rot="18907343">
              <a:off x="1081178" y="2895479"/>
              <a:ext cx="2913386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49BC9CC2-3822-088C-83FC-AEA055F0017F}"/>
                </a:ext>
              </a:extLst>
            </p:cNvPr>
            <p:cNvSpPr/>
            <p:nvPr/>
          </p:nvSpPr>
          <p:spPr>
            <a:xfrm rot="2692657" flipV="1">
              <a:off x="1128817" y="4951119"/>
              <a:ext cx="27414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BC88A4-C79C-F758-6D61-A75F125A903D}"/>
              </a:ext>
            </a:extLst>
          </p:cNvPr>
          <p:cNvGrpSpPr/>
          <p:nvPr/>
        </p:nvGrpSpPr>
        <p:grpSpPr>
          <a:xfrm>
            <a:off x="4359336" y="2695131"/>
            <a:ext cx="4928716" cy="2956670"/>
            <a:chOff x="1081178" y="2687141"/>
            <a:chExt cx="4928716" cy="295667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D7C927-7488-CA20-FA71-91AA23C3C513}"/>
                </a:ext>
              </a:extLst>
            </p:cNvPr>
            <p:cNvSpPr/>
            <p:nvPr/>
          </p:nvSpPr>
          <p:spPr>
            <a:xfrm rot="2693928">
              <a:off x="2098477" y="2687141"/>
              <a:ext cx="2934700" cy="295667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626000-5441-48A9-B71C-B1B6FF528D63}"/>
                </a:ext>
              </a:extLst>
            </p:cNvPr>
            <p:cNvSpPr txBox="1"/>
            <p:nvPr/>
          </p:nvSpPr>
          <p:spPr>
            <a:xfrm>
              <a:off x="1766169" y="3842309"/>
              <a:ext cx="14334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Brainstorm</a:t>
              </a:r>
              <a:br>
                <a:rPr lang="en-US" dirty="0">
                  <a:solidFill>
                    <a:sysClr val="windowText" lastClr="000000"/>
                  </a:solidFill>
                </a:rPr>
              </a:br>
              <a:r>
                <a:rPr lang="en-US" dirty="0">
                  <a:solidFill>
                    <a:sysClr val="windowText" lastClr="000000"/>
                  </a:solidFill>
                </a:rPr>
                <a:t>(divergent)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02D81E-DF40-32FF-6B15-F711C3B69274}"/>
                </a:ext>
              </a:extLst>
            </p:cNvPr>
            <p:cNvSpPr txBox="1"/>
            <p:nvPr/>
          </p:nvSpPr>
          <p:spPr>
            <a:xfrm>
              <a:off x="3418343" y="3842308"/>
              <a:ext cx="1928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Add constraints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(convergent)</a:t>
              </a: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9223A91F-7174-2FAA-6C77-4E83F39D71E9}"/>
                </a:ext>
              </a:extLst>
            </p:cNvPr>
            <p:cNvSpPr/>
            <p:nvPr/>
          </p:nvSpPr>
          <p:spPr>
            <a:xfrm rot="2692657" flipV="1">
              <a:off x="3137935" y="2870872"/>
              <a:ext cx="28436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E33AE826-3A6A-CA8D-3553-6891E61E0B62}"/>
                </a:ext>
              </a:extLst>
            </p:cNvPr>
            <p:cNvSpPr/>
            <p:nvPr/>
          </p:nvSpPr>
          <p:spPr>
            <a:xfrm rot="18907343">
              <a:off x="3036391" y="4900337"/>
              <a:ext cx="2973503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B83E5ED5-8953-2712-AEF0-BDA7F5FC9BD8}"/>
                </a:ext>
              </a:extLst>
            </p:cNvPr>
            <p:cNvSpPr/>
            <p:nvPr/>
          </p:nvSpPr>
          <p:spPr>
            <a:xfrm rot="18907343">
              <a:off x="1081178" y="2895479"/>
              <a:ext cx="2913386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B1E72AFB-2A4C-ABC4-2EA6-BEA4EDA8273D}"/>
                </a:ext>
              </a:extLst>
            </p:cNvPr>
            <p:cNvSpPr/>
            <p:nvPr/>
          </p:nvSpPr>
          <p:spPr>
            <a:xfrm rot="2692657" flipV="1">
              <a:off x="1128817" y="4951119"/>
              <a:ext cx="27414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1FC253-6924-B41F-5D8E-AF97968858E9}"/>
              </a:ext>
            </a:extLst>
          </p:cNvPr>
          <p:cNvGrpSpPr/>
          <p:nvPr/>
        </p:nvGrpSpPr>
        <p:grpSpPr>
          <a:xfrm>
            <a:off x="8735691" y="2695128"/>
            <a:ext cx="4928716" cy="2956670"/>
            <a:chOff x="1081178" y="2687141"/>
            <a:chExt cx="4928716" cy="295667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80F789-1078-EDB4-8E78-B8381D90DE48}"/>
                </a:ext>
              </a:extLst>
            </p:cNvPr>
            <p:cNvSpPr/>
            <p:nvPr/>
          </p:nvSpPr>
          <p:spPr>
            <a:xfrm rot="2693928">
              <a:off x="2098477" y="2687141"/>
              <a:ext cx="2934700" cy="295667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1CC371-99A2-5779-1C3F-07F8BFDDEA4C}"/>
                </a:ext>
              </a:extLst>
            </p:cNvPr>
            <p:cNvSpPr txBox="1"/>
            <p:nvPr/>
          </p:nvSpPr>
          <p:spPr>
            <a:xfrm>
              <a:off x="1766169" y="3842309"/>
              <a:ext cx="14334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Brainstorm</a:t>
              </a:r>
              <a:br>
                <a:rPr lang="en-US" dirty="0">
                  <a:solidFill>
                    <a:sysClr val="windowText" lastClr="000000"/>
                  </a:solidFill>
                </a:rPr>
              </a:br>
              <a:r>
                <a:rPr lang="en-US" dirty="0">
                  <a:solidFill>
                    <a:sysClr val="windowText" lastClr="000000"/>
                  </a:solidFill>
                </a:rPr>
                <a:t>(divergent)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E8D936-6713-3804-8368-25292F2DE0E1}"/>
                </a:ext>
              </a:extLst>
            </p:cNvPr>
            <p:cNvSpPr txBox="1"/>
            <p:nvPr/>
          </p:nvSpPr>
          <p:spPr>
            <a:xfrm>
              <a:off x="3418343" y="3842308"/>
              <a:ext cx="1928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Add constraints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(convergent)</a:t>
              </a: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0FE86786-4EFD-398A-3797-3C4840860563}"/>
                </a:ext>
              </a:extLst>
            </p:cNvPr>
            <p:cNvSpPr/>
            <p:nvPr/>
          </p:nvSpPr>
          <p:spPr>
            <a:xfrm rot="2692657" flipV="1">
              <a:off x="3137935" y="2870872"/>
              <a:ext cx="28436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70D58BDE-F1A6-53EB-9C6E-901B14FCCEE6}"/>
                </a:ext>
              </a:extLst>
            </p:cNvPr>
            <p:cNvSpPr/>
            <p:nvPr/>
          </p:nvSpPr>
          <p:spPr>
            <a:xfrm rot="18907343">
              <a:off x="3036391" y="4900337"/>
              <a:ext cx="2973503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ight Arrow 26">
              <a:extLst>
                <a:ext uri="{FF2B5EF4-FFF2-40B4-BE49-F238E27FC236}">
                  <a16:creationId xmlns:a16="http://schemas.microsoft.com/office/drawing/2014/main" id="{CC8A4D14-8728-1B41-7F9B-A3F411978715}"/>
                </a:ext>
              </a:extLst>
            </p:cNvPr>
            <p:cNvSpPr/>
            <p:nvPr/>
          </p:nvSpPr>
          <p:spPr>
            <a:xfrm rot="18907343">
              <a:off x="1081178" y="2895479"/>
              <a:ext cx="2913386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D5537820-7E2D-E504-0307-124730D4F99A}"/>
                </a:ext>
              </a:extLst>
            </p:cNvPr>
            <p:cNvSpPr/>
            <p:nvPr/>
          </p:nvSpPr>
          <p:spPr>
            <a:xfrm rot="2692657" flipV="1">
              <a:off x="1128817" y="4951119"/>
              <a:ext cx="2741445" cy="438411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4427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9B06-0F94-3F38-290B-CFECE2E4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Q1, Dream:</a:t>
            </a:r>
            <a:r>
              <a:rPr lang="en-US" dirty="0"/>
              <a:t> If your product became a reality, what metrics would you use to verify that it was solving the client’s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FF48-72FA-A502-A0AA-331A06A54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“Dream” means you don’t have to be able to implement this now.</a:t>
            </a:r>
          </a:p>
          <a:p>
            <a:r>
              <a:rPr lang="en-US" dirty="0"/>
              <a:t>Frame answers in terms of the client’s business needs.</a:t>
            </a:r>
          </a:p>
          <a:p>
            <a:r>
              <a:rPr lang="en-US" dirty="0"/>
              <a:t>Let this exercise orient you towards a definition of “good” for your product.</a:t>
            </a:r>
          </a:p>
        </p:txBody>
      </p:sp>
    </p:spTree>
    <p:extLst>
      <p:ext uri="{BB962C8B-B14F-4D97-AF65-F5344CB8AC3E}">
        <p14:creationId xmlns:p14="http://schemas.microsoft.com/office/powerpoint/2010/main" val="82945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22037-BAD1-47EA-18AF-12E93B46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53FD-B89F-D237-B07C-F69246C6D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Q2, Reality:</a:t>
            </a:r>
            <a:r>
              <a:rPr lang="en-US" dirty="0"/>
              <a:t> what limitations must you impose because your CS399 project is a prototype, without real clients/customers/data?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10D2-8108-00A0-CF20-30472F89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Because we can’t ask a customer X, instead we will…</a:t>
            </a:r>
          </a:p>
          <a:p>
            <a:r>
              <a:rPr lang="en-US" dirty="0"/>
              <a:t>Example: Because we don’t have live data, instead we will…</a:t>
            </a:r>
          </a:p>
        </p:txBody>
      </p:sp>
    </p:spTree>
    <p:extLst>
      <p:ext uri="{BB962C8B-B14F-4D97-AF65-F5344CB8AC3E}">
        <p14:creationId xmlns:p14="http://schemas.microsoft.com/office/powerpoint/2010/main" val="569769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E5F1-1907-DCD3-C1E0-BADF4356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B63B-2EBD-4EB8-1D73-7B76E0E57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Q3, Dream:</a:t>
            </a:r>
            <a:r>
              <a:rPr lang="en-US" dirty="0"/>
              <a:t> Imagine you had plenty of capital and staff to spend on model evaluation.  What evaluation mechanism would you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75F8-1F7D-A891-EEBB-D6C29CBC7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</a:t>
            </a:r>
          </a:p>
          <a:p>
            <a:pPr lvl="1"/>
            <a:r>
              <a:rPr lang="en-US" dirty="0"/>
              <a:t>Create a useful and accurate metric.</a:t>
            </a:r>
          </a:p>
          <a:p>
            <a:pPr lvl="1"/>
            <a:r>
              <a:rPr lang="en-US" dirty="0"/>
              <a:t>Align it with your definition of good from Q1.</a:t>
            </a:r>
          </a:p>
          <a:p>
            <a:pPr lvl="1"/>
            <a:r>
              <a:rPr lang="en-US" dirty="0"/>
              <a:t>Stay within the constraints you gave in Q2.</a:t>
            </a:r>
          </a:p>
          <a:p>
            <a:r>
              <a:rPr lang="en-US" dirty="0"/>
              <a:t>Dream:</a:t>
            </a:r>
          </a:p>
          <a:p>
            <a:pPr lvl="1"/>
            <a:r>
              <a:rPr lang="en-US" dirty="0"/>
              <a:t>You can buy whatever computing/data resources you need.</a:t>
            </a:r>
          </a:p>
          <a:p>
            <a:pPr lvl="1"/>
            <a:r>
              <a:rPr lang="en-US" dirty="0"/>
              <a:t>You can assign your staff to do whatever labeling/judging tasks you need.</a:t>
            </a:r>
          </a:p>
        </p:txBody>
      </p:sp>
    </p:spTree>
    <p:extLst>
      <p:ext uri="{BB962C8B-B14F-4D97-AF65-F5344CB8AC3E}">
        <p14:creationId xmlns:p14="http://schemas.microsoft.com/office/powerpoint/2010/main" val="2153335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AA96-3298-637E-8CDF-1DEE3667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3B30-F66C-1345-3EFC-8ACC0D44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Q4, Reality:</a:t>
            </a:r>
            <a:r>
              <a:rPr lang="en-US" dirty="0"/>
              <a:t> What scaled-back version of that strategy could you use in CS399 without capital/staff?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3E62-481F-1F3B-E84C-F639250C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Because we don’t have staff to grade chat responses, instead we will…</a:t>
            </a:r>
          </a:p>
          <a:p>
            <a:r>
              <a:rPr lang="en-US" dirty="0"/>
              <a:t>Example: Because we can’t buy 10,000 API calls, instead we will…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22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EF39-7EE1-C5A5-6524-B3585D39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E234-7048-AEF4-AEE5-B5369B8EE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1772744"/>
            <a:ext cx="8686800" cy="1468800"/>
          </a:xfrm>
        </p:spPr>
        <p:txBody>
          <a:bodyPr/>
          <a:lstStyle/>
          <a:p>
            <a:pPr algn="l"/>
            <a:r>
              <a:rPr lang="en-US" dirty="0"/>
              <a:t>Exercise:</a:t>
            </a:r>
            <a:br>
              <a:rPr lang="en-US"/>
            </a:br>
            <a:r>
              <a:rPr lang="en-US"/>
              <a:t>evaluation design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CAC18-688F-7B22-5274-D8B4540FE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67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6883</TotalTime>
  <Words>651</Words>
  <Application>Microsoft Macintosh PowerPoint</Application>
  <PresentationFormat>Widescreen</PresentationFormat>
  <Paragraphs>83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Cambria Math</vt:lpstr>
      <vt:lpstr>Century Gothic</vt:lpstr>
      <vt:lpstr>Wingdings</vt:lpstr>
      <vt:lpstr>Mesh</vt:lpstr>
      <vt:lpstr>Evaluating AI model performance</vt:lpstr>
      <vt:lpstr>Where we ended last time</vt:lpstr>
      <vt:lpstr>Three example evaluation types</vt:lpstr>
      <vt:lpstr>evaluative tools #1: Binary classification</vt:lpstr>
      <vt:lpstr>evaluative tools #2: Search</vt:lpstr>
      <vt:lpstr>evaluative tools #3: Text output</vt:lpstr>
      <vt:lpstr>Brainstorming process</vt:lpstr>
      <vt:lpstr>Divergent/convergent thinking</vt:lpstr>
      <vt:lpstr>Q1, Dream: If your product became a reality, what metrics would you use to verify that it was solving the client’s problem?</vt:lpstr>
      <vt:lpstr>Q2, Reality: what limitations must you impose because your CS399 project is a prototype, without real clients/customers/data?</vt:lpstr>
      <vt:lpstr>Q3, Dream: Imagine you had plenty of capital and staff to spend on model evaluation.  What evaluation mechanism would you use?</vt:lpstr>
      <vt:lpstr>Q4, Reality: What scaled-back version of that strategy could you use in CS399 without capital/staff?</vt:lpstr>
      <vt:lpstr>Exercise: evaluation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Carter, Nathan</dc:creator>
  <cp:lastModifiedBy>Carter, Nathan</cp:lastModifiedBy>
  <cp:revision>3</cp:revision>
  <dcterms:created xsi:type="dcterms:W3CDTF">2026-01-26T22:55:08Z</dcterms:created>
  <dcterms:modified xsi:type="dcterms:W3CDTF">2026-03-02T15:52:06Z</dcterms:modified>
</cp:coreProperties>
</file>